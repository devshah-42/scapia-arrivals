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travellers</c:v>
                </c:pt>
              </c:strCache>
            </c:strRef>
          </c:tx>
          <c:spPr>
            <a:solidFill>
              <a:srgbClr val="137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848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Thailand</c:v>
                  </c:pt>
                  <c:pt idx="1">
                    <c:v>UAE</c:v>
                  </c:pt>
                  <c:pt idx="2">
                    <c:v>Vietnam</c:v>
                  </c:pt>
                  <c:pt idx="3">
                    <c:v>Singapore</c:v>
                  </c:pt>
                  <c:pt idx="4">
                    <c:v>Malaysia</c:v>
                  </c:pt>
                  <c:pt idx="5">
                    <c:v>Indonesia</c:v>
                  </c:pt>
                  <c:pt idx="6">
                    <c:v>USA</c:v>
                  </c:pt>
                  <c:pt idx="7">
                    <c:v>Sri Lanka</c:v>
                  </c:pt>
                  <c:pt idx="8">
                    <c:v>Japan</c:v>
                  </c:pt>
                  <c:pt idx="9">
                    <c:v>UK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5552</c:v>
                </c:pt>
                <c:pt idx="1">
                  <c:v>2988</c:v>
                </c:pt>
                <c:pt idx="2">
                  <c:v>2639</c:v>
                </c:pt>
                <c:pt idx="3">
                  <c:v>1826</c:v>
                </c:pt>
                <c:pt idx="4">
                  <c:v>1670</c:v>
                </c:pt>
                <c:pt idx="5">
                  <c:v>1128</c:v>
                </c:pt>
                <c:pt idx="6">
                  <c:v>982</c:v>
                </c:pt>
                <c:pt idx="7">
                  <c:v>943</c:v>
                </c:pt>
                <c:pt idx="8">
                  <c:v>751</c:v>
                </c:pt>
                <c:pt idx="9">
                  <c:v>701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848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242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City Stack: one nudge at the right moment telling a traveller which local apps actually work in the city they just landed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Stack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knowledge for global travel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In-trip local utility on the Scapia app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 ·  21 August 2026  ·  Approved to build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09760" y="2011680"/>
            <a:ext cx="2011680" cy="2011680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3200400"/>
            <a:ext cx="1188720" cy="1188720"/>
          </a:xfrm>
          <a:prstGeom prst="ellipse">
            <a:avLst/>
          </a:prstGeom>
          <a:solidFill>
            <a:srgbClr val="E8A3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in one line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building, and why now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2F6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Scapia knows when you booked international travel and when you land. Today neither fact helps you after arrival.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C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7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discovery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(TEA / Skippy) covers things to see. City Stack covers the boring essentials that make a trip 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342900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CA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7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revenue, yet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9432" y="416052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has no monetisation. Success is engagement — opening Scapia during the trip, not just before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342900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CA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84464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7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84464" y="416052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point the way. No browsing, no payments, no compliance surface in V1.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signals we already have, and do nothing with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2F6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international booking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destination and the dates, weeks in advance.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2F6F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Detected city change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45059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tells us they have landed. Nothing fires.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0B3B4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they land, they are on their own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default to blind App Store searches, or the app they use at home — which very often fails.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world’s top travel apps are local or regional, not global. Uber barely works in Vietnam.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between trips drops to zero. There is no reason to reopen the app.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gap sits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journey, end to end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48256" cy="2651760"/>
          </a:xfrm>
          <a:prstGeom prst="roundRect">
            <a:avLst>
              <a:gd name="adj" fmla="val 3571"/>
            </a:avLst>
          </a:prstGeom>
          <a:solidFill>
            <a:srgbClr val="F2F6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517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and dates known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53896" y="2148840"/>
            <a:ext cx="420624" cy="420624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8" name="Text 6"/>
          <p:cNvSpPr/>
          <p:nvPr/>
        </p:nvSpPr>
        <p:spPr>
          <a:xfrm>
            <a:off x="1453896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71216" y="1920240"/>
            <a:ext cx="2048256" cy="2651760"/>
          </a:xfrm>
          <a:prstGeom prst="roundRect">
            <a:avLst>
              <a:gd name="adj" fmla="val 3571"/>
            </a:avLst>
          </a:prstGeom>
          <a:solidFill>
            <a:srgbClr val="F2F6F6"/>
          </a:solidFill>
          <a:ln/>
        </p:spPr>
      </p:sp>
      <p:sp>
        <p:nvSpPr>
          <p:cNvPr id="10" name="Text 8"/>
          <p:cNvSpPr/>
          <p:nvPr/>
        </p:nvSpPr>
        <p:spPr>
          <a:xfrm>
            <a:off x="3054096" y="26517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Pre-trip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54096" y="3063240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nudges, but only Scapia cross-sell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85032" y="2148840"/>
            <a:ext cx="420624" cy="420624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13" name="Text 11"/>
          <p:cNvSpPr/>
          <p:nvPr/>
        </p:nvSpPr>
        <p:spPr>
          <a:xfrm>
            <a:off x="3685032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02352" y="1920240"/>
            <a:ext cx="2048256" cy="2651760"/>
          </a:xfrm>
          <a:prstGeom prst="roundRect">
            <a:avLst>
              <a:gd name="adj" fmla="val 3571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285232" y="26517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85232" y="3063240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today. Nothing happens.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16168" y="2148840"/>
            <a:ext cx="420624" cy="420624"/>
          </a:xfrm>
          <a:prstGeom prst="ellipse">
            <a:avLst/>
          </a:prstGeom>
          <a:solidFill>
            <a:srgbClr val="0A2429"/>
          </a:solidFill>
          <a:ln/>
        </p:spPr>
      </p:sp>
      <p:sp>
        <p:nvSpPr>
          <p:cNvPr id="18" name="Text 16"/>
          <p:cNvSpPr/>
          <p:nvPr/>
        </p:nvSpPr>
        <p:spPr>
          <a:xfrm>
            <a:off x="5916168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33488" y="1920240"/>
            <a:ext cx="2048256" cy="2651760"/>
          </a:xfrm>
          <a:prstGeom prst="roundRect">
            <a:avLst>
              <a:gd name="adj" fmla="val 3571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516368" y="26517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trip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16368" y="3063240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Rides, food, data solved alone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47304" y="2148840"/>
            <a:ext cx="420624" cy="420624"/>
          </a:xfrm>
          <a:prstGeom prst="ellipse">
            <a:avLst/>
          </a:prstGeom>
          <a:solidFill>
            <a:srgbClr val="0A2429"/>
          </a:solidFill>
          <a:ln/>
        </p:spPr>
      </p:sp>
      <p:sp>
        <p:nvSpPr>
          <p:cNvPr id="23" name="Text 21"/>
          <p:cNvSpPr/>
          <p:nvPr/>
        </p:nvSpPr>
        <p:spPr>
          <a:xfrm>
            <a:off x="8147304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64624" y="1920240"/>
            <a:ext cx="2048256" cy="2651760"/>
          </a:xfrm>
          <a:prstGeom prst="roundRect">
            <a:avLst>
              <a:gd name="adj" fmla="val 3571"/>
            </a:avLst>
          </a:prstGeom>
          <a:solidFill>
            <a:srgbClr val="F2F6F6"/>
          </a:solidFill>
          <a:ln/>
        </p:spPr>
      </p:sp>
      <p:sp>
        <p:nvSpPr>
          <p:cNvPr id="25" name="Text 23"/>
          <p:cNvSpPr/>
          <p:nvPr/>
        </p:nvSpPr>
        <p:spPr>
          <a:xfrm>
            <a:off x="9747504" y="26517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Post-trip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47504" y="3063240"/>
            <a:ext cx="16824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 to reopen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378440" y="2148840"/>
            <a:ext cx="420624" cy="420624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28" name="Text 26"/>
          <p:cNvSpPr/>
          <p:nvPr/>
        </p:nvSpPr>
        <p:spPr>
          <a:xfrm>
            <a:off x="103784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amber steps are the empty space. This does not replace cross-sell nudges — it fills the gap beside them.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hurts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urgency and frequency in-trip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420624" cy="420624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0" y="184708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blocker. No data means no maps, no rides, no translation.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420624" cy="420624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Airport to first stop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97680" y="271576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ride app works here, is trusted, is fairly priced — with no local number.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420624" cy="420624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and groceries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97680" y="358444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anxiety, highest frequency. Multiple times a day, every day.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420624" cy="420624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fatigue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97680" y="445312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one moment where Scapia says: here is your stack for this city.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5303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friction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297680" y="53218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standalone problem. A layer under all four — and the eventual revenue path.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first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— a clear line between V1 and later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560320" y="1828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Stack moment: one push + WhatsApp nudge on booking or city change, linking to curated local apps across Connectivity, Mobility, Food, Safety and Transit.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2F6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60320" y="28803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grocery / quick-commerce tile. Re-sending the nudge on multi-city trips.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2F6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319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60320" y="3931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payment layer. Formal commercial partnerships and commission.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8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83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84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WON’T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560320" y="49834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ride, food or grocery service. Payment gateway. Attractions — those stay with Experiences.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Trigger, curation, and what the user sees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C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420624" cy="420624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MoEngage flow beside the existing cross-sell flows. Fires on a confirmed international booking, or a detected city change from the phone’s own location — not card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C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103120"/>
            <a:ext cx="420624" cy="420624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99432" y="31089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work. Editorial, a config sheet not an algorithm. Top 10–15 cities first. Enriched later as commercial partners confirm coverage.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8288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C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2103120"/>
            <a:ext cx="420624" cy="420624"/>
          </a:xfrm>
          <a:prstGeom prst="ellipse">
            <a:avLst/>
          </a:prstGeom>
          <a:solidFill>
            <a:srgbClr val="13797B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84464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84464" y="31089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WhatsApp: “Landing in Dubai? Here’s what actually works there.” Tap opens a screen of tiles that deep-link straight to store pages.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in-app browsing, comparison or payment handling in V1. Scapia points the way, it does not process anything.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tiles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traveller sees when they tap through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48256" cy="2651760"/>
          </a:xfrm>
          <a:prstGeom prst="roundRect">
            <a:avLst>
              <a:gd name="adj" fmla="val 4464"/>
            </a:avLst>
          </a:prstGeom>
          <a:solidFill>
            <a:srgbClr val="12505C"/>
          </a:solidFill>
          <a:ln/>
        </p:spPr>
      </p:sp>
      <p:sp>
        <p:nvSpPr>
          <p:cNvPr id="5" name="Shape 3"/>
          <p:cNvSpPr/>
          <p:nvPr/>
        </p:nvSpPr>
        <p:spPr>
          <a:xfrm>
            <a:off x="1435608" y="24231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0632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eSIM, local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1216" y="2103120"/>
            <a:ext cx="2048256" cy="2651760"/>
          </a:xfrm>
          <a:prstGeom prst="roundRect">
            <a:avLst>
              <a:gd name="adj" fmla="val 4464"/>
            </a:avLst>
          </a:prstGeom>
          <a:solidFill>
            <a:srgbClr val="12505C"/>
          </a:solidFill>
          <a:ln/>
        </p:spPr>
      </p:sp>
      <p:sp>
        <p:nvSpPr>
          <p:cNvPr id="9" name="Shape 7"/>
          <p:cNvSpPr/>
          <p:nvPr/>
        </p:nvSpPr>
        <p:spPr>
          <a:xfrm>
            <a:off x="3666744" y="24231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3008376" y="30632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08376" y="34747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 app that works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2352" y="2103120"/>
            <a:ext cx="2048256" cy="2651760"/>
          </a:xfrm>
          <a:prstGeom prst="roundRect">
            <a:avLst>
              <a:gd name="adj" fmla="val 4464"/>
            </a:avLst>
          </a:prstGeom>
          <a:solidFill>
            <a:srgbClr val="12505C"/>
          </a:solidFill>
          <a:ln/>
        </p:spPr>
      </p:sp>
      <p:sp>
        <p:nvSpPr>
          <p:cNvPr id="13" name="Shape 11"/>
          <p:cNvSpPr/>
          <p:nvPr/>
        </p:nvSpPr>
        <p:spPr>
          <a:xfrm>
            <a:off x="5897880" y="24231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239512" y="30632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39512" y="34747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that accepts you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33488" y="2103120"/>
            <a:ext cx="2048256" cy="2651760"/>
          </a:xfrm>
          <a:prstGeom prst="roundRect">
            <a:avLst>
              <a:gd name="adj" fmla="val 4464"/>
            </a:avLst>
          </a:prstGeom>
          <a:solidFill>
            <a:srgbClr val="12505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9016" y="24231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470648" y="30632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70648" y="34747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+ Indian embassy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64624" y="2103120"/>
            <a:ext cx="2048256" cy="2651760"/>
          </a:xfrm>
          <a:prstGeom prst="roundRect">
            <a:avLst>
              <a:gd name="adj" fmla="val 4464"/>
            </a:avLst>
          </a:prstGeom>
          <a:solidFill>
            <a:srgbClr val="1250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60152" y="24231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9701784" y="30632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01784" y="34747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Metro, cards, passes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the one tile that must be sourced from official government data, not hand-curated.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launch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12 months of Scapia travel data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749040" cy="1280160"/>
          </a:xfrm>
          <a:prstGeom prst="roundRect">
            <a:avLst>
              <a:gd name="adj" fmla="val 4286"/>
            </a:avLst>
          </a:prstGeom>
          <a:solidFill>
            <a:srgbClr val="E8A33D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46720" y="230428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international spend is Southeast Asia alone — more than Middle East, Europe and North America combined.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0" y="3200400"/>
            <a:ext cx="3749040" cy="1280160"/>
          </a:xfrm>
          <a:prstGeom prst="roundRect">
            <a:avLst>
              <a:gd name="adj" fmla="val 4286"/>
            </a:avLst>
          </a:prstGeom>
          <a:solidFill>
            <a:srgbClr val="F2F6F6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86–93%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46720" y="37673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international spend sits in the top 20 countries, out of 90+ travelled 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0" y="4663440"/>
            <a:ext cx="3749040" cy="1280160"/>
          </a:xfrm>
          <a:prstGeom prst="roundRect">
            <a:avLst>
              <a:gd name="adj" fmla="val 4286"/>
            </a:avLst>
          </a:prstGeom>
          <a:solidFill>
            <a:srgbClr val="F2F6F6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24,077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046720" y="523036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international travellers, 40,001 bookings, ₹158.75 Cr spend.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 pilot cities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cities, three countries, two regions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530352"/>
          </a:xfrm>
          <a:prstGeom prst="roundRect">
            <a:avLst>
              <a:gd name="adj" fmla="val 6897"/>
            </a:avLst>
          </a:prstGeom>
          <a:solidFill>
            <a:srgbClr val="F2F6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Bangkok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7830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78308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single-city traveller count of any destination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04872"/>
            <a:ext cx="10881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0487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Phuket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240487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404872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Second-highest; two major cities inside one country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10881360" cy="530352"/>
          </a:xfrm>
          <a:prstGeom prst="roundRect">
            <a:avLst>
              <a:gd name="adj" fmla="val 6897"/>
            </a:avLst>
          </a:prstGeom>
          <a:solidFill>
            <a:srgbClr val="F2F6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266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302666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026664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Middle East destination and a common stopover gateway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48456"/>
            <a:ext cx="10881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484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Hanoi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364845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648456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city in our fastest-growing SEA market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270248"/>
            <a:ext cx="10881360" cy="530352"/>
          </a:xfrm>
          <a:prstGeom prst="roundRect">
            <a:avLst>
              <a:gd name="adj" fmla="val 6897"/>
            </a:avLst>
          </a:prstGeom>
          <a:solidFill>
            <a:srgbClr val="F2F6F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702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Singapore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427024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4270248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combined spend once stays and Experiences are included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10881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920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 Dhabi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926080" y="48920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489204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Middle East coverage without a new country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513832"/>
            <a:ext cx="10881360" cy="530352"/>
          </a:xfrm>
          <a:prstGeom prst="roundRect">
            <a:avLst>
              <a:gd name="adj" fmla="val 6897"/>
            </a:avLst>
          </a:prstGeom>
          <a:solidFill>
            <a:srgbClr val="F2F6F6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5138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Kuala Lumpur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926080" y="55138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5513832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Fourth-highest traveller count; straightforward SEA addition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phases, running partly in parallel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2F6F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13797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month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end to end. Launch 3–5 pilot cities using only apps that need no formal partnership — accurate, curated public information.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2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0312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months after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7960" y="32004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the top 10–15 cities. Partner conversations begin here — finding and confirming the right local partner per city is the slow part, three months or more.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an app and linking to its store page needs no agreement at all. That only matters once we want a revenue share.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angle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first, revenue second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12505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measures engagement only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In-trip app opens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tap-through 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vs. a holdout that saw no nudge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Then: Card-Linked Offers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69748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app shows a relevant partner offer. If the cardholder uses it, the partner pays a share of that transaction.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and Visa are rolling this out through 2026 — we ride infrastructure the industry is already building, rather than inventing tracking from scratch.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worth watching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are reasons to stop. One is a real pre-launch checkpoint.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third-party experience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178308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78308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“Recommended, not an official partner” note, plus thumbs up/down per tile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9631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/ embassy 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49631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49631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official government sources, never hand-curated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F2F6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0954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data for a new purpose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32095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pre-launch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20954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privacy policy covers third-party recommendations, not just our own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F2F6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2277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template approval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392277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92277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draft early in the build, not launch week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36008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F2F6F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6360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apps without agreement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63600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463600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wording. Not framed as endorsement.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10881360" cy="603504"/>
          </a:xfrm>
          <a:prstGeom prst="roundRect">
            <a:avLst>
              <a:gd name="adj" fmla="val 6061"/>
            </a:avLst>
          </a:prstGeom>
          <a:solidFill>
            <a:srgbClr val="F2F6F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3492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Cross-border commission rules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06240" y="534924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534924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relevant once CLO is added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looks like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— drop exports here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2F6F6"/>
          </a:solidFill>
          <a:ln w="19050">
            <a:solidFill>
              <a:srgbClr val="C7D6D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343400" y="178308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2F6F6"/>
          </a:solidFill>
          <a:ln w="19050">
            <a:solidFill>
              <a:srgbClr val="C7D6D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046720" y="178308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2F6F6"/>
          </a:solidFill>
          <a:ln w="19050">
            <a:solidFill>
              <a:srgbClr val="C7D6D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84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84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City Stack screen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84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tile in detail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move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" y="265176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54480" y="2624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 on Phase 0 scope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126480" y="264261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tiles, 3–5 pilot cities, no payment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52044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34930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editorial owner for curation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26480" y="35112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 sheet is the product. It needs a name against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4361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policy wording check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26480" y="43799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line, this week — the only real pre-launch blocker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525780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57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5230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template submitted early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26480" y="524865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approval is not the thing that slips launch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Stack  ·  Local knowledge for global travel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2026-08-21T05:25:36Z</dcterms:created>
  <dcterms:modified xsi:type="dcterms:W3CDTF">2026-08-21T05:25:36Z</dcterms:modified>
</cp:coreProperties>
</file>